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Quattrocento" panose="02020502030000000404" pitchFamily="18" charset="0"/>
      <p:regular r:id="rId17"/>
      <p:bold r:id="rId18"/>
    </p:embeddedFont>
  </p:embeddedFontLst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19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91922"/>
            <a:ext cx="57291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Java Date vs. LocalDate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91664"/>
            <a:ext cx="70075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Evoluzione e Scelte Migliori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37724" y="485465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EB2DE20-46FC-4585-7998-2C275511AF23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895118"/>
            <a:ext cx="1727002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966913"/>
            <a:ext cx="143982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INTRODUZIONE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440662"/>
            <a:ext cx="811149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 Origini: Due Epoche di Gestione Date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837724" y="3362920"/>
            <a:ext cx="6357818" cy="2971443"/>
          </a:xfrm>
          <a:prstGeom prst="roundRect">
            <a:avLst>
              <a:gd name="adj" fmla="val 492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7244" y="3362920"/>
            <a:ext cx="121920" cy="2971443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7" name="Text 5"/>
          <p:cNvSpPr/>
          <p:nvPr/>
        </p:nvSpPr>
        <p:spPr>
          <a:xfrm>
            <a:off x="1198959" y="363271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java.util.Date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198959" y="4198620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Introdotta nel 1995 con le prime versioni di Java.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98959" y="4725233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Parte delle API "vecchie"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198959" y="5191958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Considerata obsoleta e scomoda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198959" y="5658683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Progettata male, molti metodi deprecati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3362920"/>
            <a:ext cx="6357818" cy="2971443"/>
          </a:xfrm>
          <a:prstGeom prst="roundRect">
            <a:avLst>
              <a:gd name="adj" fmla="val 492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4378" y="3362920"/>
            <a:ext cx="121920" cy="2971443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96093" y="363271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java.time.LocalDate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7796093" y="4198620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Introdotta con Java 8 (2014).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796093" y="4725233"/>
            <a:ext cx="5726787" cy="40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Parte del moderno package </a:t>
            </a: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java.time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796093" y="5214818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Robusta e ispirata a Joda-Time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796093" y="5681543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Soluzione raccomandata</a:t>
            </a:r>
            <a:endParaRPr lang="en-US" sz="1850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96729CE-C9C3-2F45-D1A6-625BA0479B3B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51992"/>
            <a:ext cx="1970842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731407"/>
            <a:ext cx="166842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CONCETTI CHIAVE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12777"/>
            <a:ext cx="7475339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Differenze Concettuali Fondamentali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837724" y="3135035"/>
            <a:ext cx="12954952" cy="3442454"/>
          </a:xfrm>
          <a:prstGeom prst="roundRect">
            <a:avLst>
              <a:gd name="adj" fmla="val 10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344" y="3142655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84659" y="3293864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Rappresenta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76412" y="3293864"/>
            <a:ext cx="46896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 istante nel tempo (ms dal 1970)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852297" y="3293864"/>
            <a:ext cx="469344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Una data senza ora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45344" y="3828098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84659" y="3979307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Include Ora?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3676412" y="3979307"/>
            <a:ext cx="46896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Sì (spesso indesiderata)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852297" y="3979307"/>
            <a:ext cx="469344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45344" y="451354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84659" y="4664750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Fuso Orario?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3676412" y="4664750"/>
            <a:ext cx="46896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Implicitamente sì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852297" y="4664750"/>
            <a:ext cx="469344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(solo data)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845344" y="5198983"/>
            <a:ext cx="12939713" cy="68544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84659" y="5350193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Mutabilità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3676412" y="5350193"/>
            <a:ext cx="46896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Mutabile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8852297" y="5350193"/>
            <a:ext cx="469344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Immutabile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845344" y="5884426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84659" y="6035635"/>
            <a:ext cx="21055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Thread Safety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676412" y="6035635"/>
            <a:ext cx="46896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Non thread-safe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852297" y="6035635"/>
            <a:ext cx="469344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Thread-safe</a:t>
            </a:r>
            <a:endParaRPr lang="en-US" sz="1850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00F1DCD8-93F7-18FD-9024-571C234B0B42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4198" y="616744"/>
            <a:ext cx="951071" cy="325755"/>
          </a:xfrm>
          <a:prstGeom prst="roundRect">
            <a:avLst>
              <a:gd name="adj" fmla="val 638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2258139" y="668655"/>
            <a:ext cx="743188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SICUREZZA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154198" y="1011793"/>
            <a:ext cx="4040267" cy="40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Problema della Mutabilità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303770" y="1679734"/>
            <a:ext cx="22860" cy="5933123"/>
          </a:xfrm>
          <a:prstGeom prst="roundRect">
            <a:avLst>
              <a:gd name="adj" fmla="val 113776"/>
            </a:avLst>
          </a:prstGeom>
          <a:solidFill>
            <a:srgbClr val="4A6B6A"/>
          </a:solidFill>
          <a:ln/>
        </p:spPr>
      </p:sp>
      <p:sp>
        <p:nvSpPr>
          <p:cNvPr id="6" name="Shape 4"/>
          <p:cNvSpPr/>
          <p:nvPr/>
        </p:nvSpPr>
        <p:spPr>
          <a:xfrm>
            <a:off x="2131338" y="1679734"/>
            <a:ext cx="5161002" cy="2793206"/>
          </a:xfrm>
          <a:prstGeom prst="roundRect">
            <a:avLst>
              <a:gd name="adj" fmla="val 931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4671179" y="1853089"/>
            <a:ext cx="2447806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</a:t>
            </a: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è </a:t>
            </a:r>
            <a:r>
              <a:rPr lang="en-US" sz="1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Mutabile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304693" y="2263021"/>
            <a:ext cx="481429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Può essere modificata dopo la creazione, generando bug inattesi: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304693" y="3012638"/>
            <a:ext cx="4814292" cy="814626"/>
          </a:xfrm>
          <a:prstGeom prst="roundRect">
            <a:avLst>
              <a:gd name="adj" fmla="val 3193"/>
            </a:avLst>
          </a:prstGeom>
          <a:solidFill>
            <a:srgbClr val="1F403F"/>
          </a:solidFill>
          <a:ln/>
        </p:spPr>
      </p:sp>
      <p:sp>
        <p:nvSpPr>
          <p:cNvPr id="10" name="Shape 8"/>
          <p:cNvSpPr/>
          <p:nvPr/>
        </p:nvSpPr>
        <p:spPr>
          <a:xfrm>
            <a:off x="2296120" y="3012638"/>
            <a:ext cx="4831437" cy="814626"/>
          </a:xfrm>
          <a:prstGeom prst="roundRect">
            <a:avLst>
              <a:gd name="adj" fmla="val 3193"/>
            </a:avLst>
          </a:prstGeom>
          <a:solidFill>
            <a:srgbClr val="1F403F"/>
          </a:solidFill>
          <a:ln/>
        </p:spPr>
      </p:sp>
      <p:sp>
        <p:nvSpPr>
          <p:cNvPr id="11" name="Text 9"/>
          <p:cNvSpPr/>
          <p:nvPr/>
        </p:nvSpPr>
        <p:spPr>
          <a:xfrm>
            <a:off x="2469475" y="3142655"/>
            <a:ext cx="4484727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 d = new Date();</a:t>
            </a:r>
            <a:endParaRPr lang="en-US" sz="1350" dirty="0"/>
          </a:p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d.setTime(0); // Il valore interno cambia!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04693" y="4022288"/>
            <a:ext cx="481429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Rischio di effetti collaterali e difficile debug.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38060" y="4819650"/>
            <a:ext cx="5161002" cy="2793206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4" name="Text 12"/>
          <p:cNvSpPr/>
          <p:nvPr/>
        </p:nvSpPr>
        <p:spPr>
          <a:xfrm>
            <a:off x="7511415" y="4993005"/>
            <a:ext cx="268176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LocalDate</a:t>
            </a: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è </a:t>
            </a:r>
            <a:r>
              <a:rPr lang="en-US" sz="1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Immutabile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11415" y="5402937"/>
            <a:ext cx="481429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Ogni operazione restituisce un nuovo oggetto, garantendo sicurezza: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11415" y="6152555"/>
            <a:ext cx="4814292" cy="814626"/>
          </a:xfrm>
          <a:prstGeom prst="roundRect">
            <a:avLst>
              <a:gd name="adj" fmla="val 3193"/>
            </a:avLst>
          </a:prstGeom>
          <a:solidFill>
            <a:srgbClr val="1F403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02843" y="6152555"/>
            <a:ext cx="4831437" cy="814626"/>
          </a:xfrm>
          <a:prstGeom prst="roundRect">
            <a:avLst>
              <a:gd name="adj" fmla="val 3193"/>
            </a:avLst>
          </a:prstGeom>
          <a:solidFill>
            <a:srgbClr val="1F403F"/>
          </a:solidFill>
          <a:ln/>
        </p:spPr>
      </p:sp>
      <p:sp>
        <p:nvSpPr>
          <p:cNvPr id="18" name="Text 16"/>
          <p:cNvSpPr/>
          <p:nvPr/>
        </p:nvSpPr>
        <p:spPr>
          <a:xfrm>
            <a:off x="7676198" y="6282571"/>
            <a:ext cx="4484727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LocalDate.now();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domani = d.plusDays(1); // 'd' non cambia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11415" y="7162205"/>
            <a:ext cx="481429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Codice più prevedibile e robusto.</a:t>
            </a:r>
            <a:endParaRPr lang="en-US" sz="1350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E625332-6625-74BD-06ED-6FB51F7DB46B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522571"/>
            <a:ext cx="1392079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601986"/>
            <a:ext cx="108966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PRECISIONE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083356"/>
            <a:ext cx="503705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Gestione del Fuso Orario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837724" y="3244929"/>
            <a:ext cx="4397216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</a:t>
            </a: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La Confusione del Fuso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37724" y="39065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Contiene un istante assoluto.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37328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Il fuso orario dipende dalla sua interpretazione (es. stringa).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22303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Fonte comune di errori e malintesi.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3244929"/>
            <a:ext cx="509909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LocalDate</a:t>
            </a: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Chiarezza e Semplicità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614761" y="39065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Non rappresenta un istante temporale.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43732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È solo una data: </a:t>
            </a: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anno, mese, giorno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48400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Ideale per concetti "agnostici" al fuso orario, come: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53067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Scadenze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4761" y="57734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Compleanni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14761" y="62401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Prenotazioni</a:t>
            </a:r>
            <a:endParaRPr lang="en-US" sz="185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379F2A4-FA72-23B9-B2BC-92FA0C39C8E1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07225"/>
            <a:ext cx="1318379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679019"/>
            <a:ext cx="103120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DESIGN API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152769"/>
            <a:ext cx="749153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API: Dalla Complessità alla Leggibilità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075027"/>
            <a:ext cx="6357818" cy="35472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314343"/>
            <a:ext cx="433125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</a:t>
            </a: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Metodi Scomodi e Deprecati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77039" y="3935492"/>
            <a:ext cx="5879187" cy="1124903"/>
          </a:xfrm>
          <a:prstGeom prst="roundRect">
            <a:avLst>
              <a:gd name="adj" fmla="val 3192"/>
            </a:avLst>
          </a:prstGeom>
          <a:solidFill>
            <a:srgbClr val="1F403F"/>
          </a:solidFill>
          <a:ln/>
        </p:spPr>
      </p:sp>
      <p:sp>
        <p:nvSpPr>
          <p:cNvPr id="8" name="Shape 5"/>
          <p:cNvSpPr/>
          <p:nvPr/>
        </p:nvSpPr>
        <p:spPr>
          <a:xfrm>
            <a:off x="1065133" y="3935492"/>
            <a:ext cx="5903000" cy="1124903"/>
          </a:xfrm>
          <a:prstGeom prst="roundRect">
            <a:avLst>
              <a:gd name="adj" fmla="val 3192"/>
            </a:avLst>
          </a:prstGeom>
          <a:solidFill>
            <a:srgbClr val="1F403F"/>
          </a:solidFill>
          <a:ln/>
        </p:spPr>
      </p:sp>
      <p:sp>
        <p:nvSpPr>
          <p:cNvPr id="9" name="Text 6"/>
          <p:cNvSpPr/>
          <p:nvPr/>
        </p:nvSpPr>
        <p:spPr>
          <a:xfrm>
            <a:off x="1304449" y="4114919"/>
            <a:ext cx="542436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date.getYear();   // Deprecato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date.getMonth();  // Deprecato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77039" y="5329595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 poco intuitive e invecchiate, con molte funzionalità rimosse.</a:t>
            </a:r>
            <a:endParaRPr lang="en-US" sz="1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58" y="3075027"/>
            <a:ext cx="6357818" cy="35472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4173" y="3314343"/>
            <a:ext cx="387750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LocalDate</a:t>
            </a: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Moderna e Intuitiva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674173" y="3935492"/>
            <a:ext cx="5879187" cy="1507927"/>
          </a:xfrm>
          <a:prstGeom prst="roundRect">
            <a:avLst>
              <a:gd name="adj" fmla="val 2381"/>
            </a:avLst>
          </a:prstGeom>
          <a:solidFill>
            <a:srgbClr val="1F403F"/>
          </a:solidFill>
          <a:ln/>
        </p:spPr>
      </p:sp>
      <p:sp>
        <p:nvSpPr>
          <p:cNvPr id="14" name="Shape 10"/>
          <p:cNvSpPr/>
          <p:nvPr/>
        </p:nvSpPr>
        <p:spPr>
          <a:xfrm>
            <a:off x="7662267" y="3935492"/>
            <a:ext cx="5903000" cy="1507927"/>
          </a:xfrm>
          <a:prstGeom prst="roundRect">
            <a:avLst>
              <a:gd name="adj" fmla="val 2381"/>
            </a:avLst>
          </a:prstGeom>
          <a:solidFill>
            <a:srgbClr val="1F403F"/>
          </a:solidFill>
          <a:ln/>
        </p:spPr>
      </p:sp>
      <p:sp>
        <p:nvSpPr>
          <p:cNvPr id="15" name="Text 11"/>
          <p:cNvSpPr/>
          <p:nvPr/>
        </p:nvSpPr>
        <p:spPr>
          <a:xfrm>
            <a:off x="7901583" y="4114919"/>
            <a:ext cx="542436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LocalDate.of(2026, 1, 1);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d.plusMonths(3);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d.getDayOfMonth();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7674173" y="5712619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Nomi dei metodi chiari e operazioni ben definite.</a:t>
            </a:r>
            <a:endParaRPr lang="en-US" sz="185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960B7054-38D5-4E86-3A97-D6935299EDC7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954" y="607219"/>
            <a:ext cx="1590199" cy="430292"/>
          </a:xfrm>
          <a:prstGeom prst="roundRect">
            <a:avLst>
              <a:gd name="adj" fmla="val 6159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2971" y="681038"/>
            <a:ext cx="1310164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CONCORRENZA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2954" y="1125736"/>
            <a:ext cx="7911941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Sicurezza nei Thread: Un Vantaggio Critico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54" y="1976676"/>
            <a:ext cx="13084493" cy="57284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5309" y="4720815"/>
            <a:ext cx="1534589" cy="670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Non Thread-Safe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69613" y="4888463"/>
            <a:ext cx="1534588" cy="33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Thread-Safe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745830" y="6600606"/>
            <a:ext cx="2790161" cy="285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Stabilità del sistema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7849" y="6567909"/>
            <a:ext cx="351346" cy="3513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5099" y="3195342"/>
            <a:ext cx="2853574" cy="285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Garantito dall'immutabilità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5974" y="3134704"/>
            <a:ext cx="355706" cy="3557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9282" y="6432563"/>
            <a:ext cx="2777478" cy="57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Race condition e corruzione dati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13868" y="6592680"/>
            <a:ext cx="351346" cy="3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5869" y="3052663"/>
            <a:ext cx="2853574" cy="57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Problemi in applicazioni concorrenti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70470" y="3136883"/>
            <a:ext cx="351346" cy="351346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6E892FE0-19B1-69CB-57FC-E09717739DD0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2071449"/>
            <a:ext cx="1461849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2143244"/>
            <a:ext cx="117467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LINEE GUIDA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616994"/>
            <a:ext cx="73541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Quando Usare Cosa: La Scelta Giusta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3569137"/>
            <a:ext cx="239316" cy="2393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7724" y="3915608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7" name="Text 4"/>
          <p:cNvSpPr/>
          <p:nvPr/>
        </p:nvSpPr>
        <p:spPr>
          <a:xfrm>
            <a:off x="837724" y="409622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D4241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Usa LocalDate</a:t>
            </a: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per: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837724" y="4662130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Solo la data (senza ora)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512885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Scadenze, compleanni, prenotazioni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37724" y="5595580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Codice moderno e thread-safe</a:t>
            </a:r>
            <a:endParaRPr lang="en-US" sz="1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4858" y="3569137"/>
            <a:ext cx="239316" cy="2393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34858" y="3915608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9"/>
          <p:cNvSpPr/>
          <p:nvPr/>
        </p:nvSpPr>
        <p:spPr>
          <a:xfrm>
            <a:off x="7434858" y="409622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Usa Date</a:t>
            </a: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solo per:</a:t>
            </a:r>
            <a:endParaRPr lang="en-US" sz="2650" dirty="0"/>
          </a:p>
        </p:txBody>
      </p:sp>
      <p:sp>
        <p:nvSpPr>
          <p:cNvPr id="14" name="Text 10"/>
          <p:cNvSpPr/>
          <p:nvPr/>
        </p:nvSpPr>
        <p:spPr>
          <a:xfrm>
            <a:off x="7434858" y="4662130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Interagire con librerie </a:t>
            </a: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molto vecchie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7434858" y="512885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 Legacy che lo richiedono esplicitamente</a:t>
            </a:r>
            <a:endParaRPr lang="en-US" sz="185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C38C527-7D37-6EDD-14D9-2A0D0E702F88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57670"/>
            <a:ext cx="1293019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1437084"/>
            <a:ext cx="99060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RIEPILOGO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918454"/>
            <a:ext cx="865251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LocalDate: La Scelta Obbligata per il Futuro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2840712"/>
            <a:ext cx="598408" cy="598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724" y="37383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Più Sicuro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7724" y="4233863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Grazie all'immutabilità e thread-safety.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2840712"/>
            <a:ext cx="598408" cy="598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64743" y="37383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Più Leggibile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64743" y="4233863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API moderne e intuitive.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5095637"/>
            <a:ext cx="598408" cy="598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7724" y="59932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Più Moderno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37724" y="6488787"/>
            <a:ext cx="63278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Allineato agli standard di Java 8+.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4743" y="5095637"/>
            <a:ext cx="598408" cy="598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64743" y="59932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Più Preciso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64743" y="6488787"/>
            <a:ext cx="63279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 date senza complicazioni di fuso orario.</a:t>
            </a:r>
            <a:endParaRPr lang="en-US" sz="185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1EDB2BE-FD63-4C3B-8CB9-3358B1E159FD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37724" y="4153495"/>
            <a:ext cx="11264979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0"/>
              </a:lnSpc>
              <a:buNone/>
            </a:pPr>
            <a:r>
              <a:rPr lang="en-US" sz="8850" dirty="0">
                <a:solidFill>
                  <a:srgbClr val="12333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Scegli la Modernità!</a:t>
            </a:r>
            <a:endParaRPr lang="en-US" sz="8850" dirty="0">
              <a:solidFill>
                <a:srgbClr val="123332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837724" y="2667953"/>
            <a:ext cx="12954952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 è storia, LocalDate è il presente e futuro della gestione delle date in Java.</a:t>
            </a:r>
            <a:endParaRPr lang="en-US" sz="35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F0D7170-F1E9-D955-93BF-C04878C8BC4C}"/>
              </a:ext>
            </a:extLst>
          </p:cNvPr>
          <p:cNvSpPr/>
          <p:nvPr/>
        </p:nvSpPr>
        <p:spPr>
          <a:xfrm>
            <a:off x="12775842" y="7675808"/>
            <a:ext cx="1854558" cy="553792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</Words>
  <Application>Microsoft Office PowerPoint</Application>
  <PresentationFormat>Personalizzato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Quattrocento</vt:lpstr>
      <vt:lpstr>Consolas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ofs699@cpt.local</cp:lastModifiedBy>
  <cp:revision>2</cp:revision>
  <dcterms:created xsi:type="dcterms:W3CDTF">2026-01-09T14:47:27Z</dcterms:created>
  <dcterms:modified xsi:type="dcterms:W3CDTF">2026-01-09T14:50:43Z</dcterms:modified>
</cp:coreProperties>
</file>